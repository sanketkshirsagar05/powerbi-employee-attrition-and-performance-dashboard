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84" r:id="rId2"/>
    <p:sldId id="281" r:id="rId3"/>
    <p:sldId id="282" r:id="rId4"/>
    <p:sldId id="283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A357"/>
    <a:srgbClr val="FFB67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80" autoAdjust="0"/>
    <p:restoredTop sz="94660"/>
  </p:normalViewPr>
  <p:slideViewPr>
    <p:cSldViewPr snapToGrid="0">
      <p:cViewPr varScale="1">
        <p:scale>
          <a:sx n="81" d="100"/>
          <a:sy n="81" d="100"/>
        </p:scale>
        <p:origin x="754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5FE050-BE3B-472F-8F62-00ACFB358741}" type="datetimeFigureOut">
              <a:rPr lang="en-IN" smtClean="0"/>
              <a:t>06-11-2025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4D36CB-15DB-4979-81D6-A5C2ED35F8E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221365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9A7157-9F00-4EE6-B9CA-45C0EF3FCE5B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421124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105949-93FE-EDC0-7359-7032C240E4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E8A7EC-DCB1-1858-315A-3080F0D11D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FEA6C9-8E1D-83D9-2565-4D6A4AF051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6DCB4D-8C90-8935-E573-CC85E8104A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9A7157-9F00-4EE6-B9CA-45C0EF3FCE5B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001044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B45B2F-29E1-D113-0656-9DC5CD5E9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746652-442C-5659-EEE8-4D24AF3FF5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4B6A4B-CAA8-28C8-BAA5-839B8FA0D4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230A81-3084-C52E-769F-EA92ED7916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9A7157-9F00-4EE6-B9CA-45C0EF3FCE5B}" type="slidenum">
              <a:rPr lang="en-IN" smtClean="0"/>
              <a:t>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708009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4A3156-80AE-933F-26D8-F48413D851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7BCFC7-1436-A60D-511C-811DED2E816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168CDF-6E76-54A4-13A0-97D4DDF84A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3B54D-6116-4BB3-A6D4-DE4072BACE23}" type="datetimeFigureOut">
              <a:rPr lang="en-IN" smtClean="0"/>
              <a:t>06-11-2025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E32F0C-3874-595D-71C6-A1D72E14D9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BF1168-C762-232F-7531-E96B9D07B4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E4346-4F48-48DF-BB2F-604E5542DE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38754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1A764D-8A96-BF63-7188-7CCDE1D621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076971-F559-95B4-F056-A93AA51CAA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7ACC91-25A9-5701-5B7A-FC1EA3C1C4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3B54D-6116-4BB3-A6D4-DE4072BACE23}" type="datetimeFigureOut">
              <a:rPr lang="en-IN" smtClean="0"/>
              <a:t>06-11-2025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8B8424-D38F-EF1A-BF36-0FF56A3BE3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9BF4FA-ED1F-48CA-21CE-E867C0B9FB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E4346-4F48-48DF-BB2F-604E5542DE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694651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C7DA33-4AE8-491F-805F-F4CDD9FBB7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B5E51A-1682-C4BB-965C-98F5FA5B54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29CCA7-ED81-D66C-D6F3-D2C1C5BABA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3B54D-6116-4BB3-A6D4-DE4072BACE23}" type="datetimeFigureOut">
              <a:rPr lang="en-IN" smtClean="0"/>
              <a:t>06-11-2025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65781C-E09C-B82C-21DF-0C52183F06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F99A54-AE8A-6A73-BEB2-BB250C96CA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E4346-4F48-48DF-BB2F-604E5542DE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17163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9C8EE9-81E7-2BBA-8891-109F0543BF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E269D6-E59F-F75F-C40A-09B4749045C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75D2C76-2D7B-C79F-5539-EBB265599A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2FD432E-D610-50EC-A1AE-53A65A592B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3B54D-6116-4BB3-A6D4-DE4072BACE23}" type="datetimeFigureOut">
              <a:rPr lang="en-IN" smtClean="0"/>
              <a:t>06-11-2025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42406B-D60F-7CFC-2013-A694D1D216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D67CC3-AA05-6EEB-58FE-A2FB6B9BD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E4346-4F48-48DF-BB2F-604E5542DE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809348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AA51C6-CF45-5E65-FBD4-3688493BB0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6F6804-940D-3FDB-2C0D-9E400E6FB1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270CD4-70E1-4572-97EE-3970F62EA2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FA69725-79EC-64CD-4E11-ABFC2E17692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EDFCCEE-4747-A25E-64EC-6B0A6579E1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2A9EBC7-A797-42B6-37BE-DFD8AFF8E8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3B54D-6116-4BB3-A6D4-DE4072BACE23}" type="datetimeFigureOut">
              <a:rPr lang="en-IN" smtClean="0"/>
              <a:t>06-11-2025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BD1CB86-366E-D810-A6C7-0568C44C61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EED5F2F-A417-B2EA-2314-00F9D49ECA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E4346-4F48-48DF-BB2F-604E5542DE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49244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63101A-EA74-7411-A6CE-4379FBB316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F05C16A-7679-0155-D976-001EEB2297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3B54D-6116-4BB3-A6D4-DE4072BACE23}" type="datetimeFigureOut">
              <a:rPr lang="en-IN" smtClean="0"/>
              <a:t>06-11-2025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29039E-04D2-84B6-1624-8220A3E924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859661-C74A-6163-C77D-EBD79C1E3A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E4346-4F48-48DF-BB2F-604E5542DE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05900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2CD5461-E889-DA43-10B7-5B9438B7E3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3B54D-6116-4BB3-A6D4-DE4072BACE23}" type="datetimeFigureOut">
              <a:rPr lang="en-IN" smtClean="0"/>
              <a:t>06-11-2025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E97DBA3-EEB5-51C8-600B-343408C545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619308-74E7-9DA5-D664-8F6AC0A532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E4346-4F48-48DF-BB2F-604E5542DE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667159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01AF0C-7B88-BE1B-BFA5-53193B9B89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DC68F8-8B38-C3E2-3740-EA6AA341BA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5D9F111-A7E5-B5A4-AED7-116856A06D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909D4E-1958-8EF5-5091-AFAE53DC15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3B54D-6116-4BB3-A6D4-DE4072BACE23}" type="datetimeFigureOut">
              <a:rPr lang="en-IN" smtClean="0"/>
              <a:t>06-11-2025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A70F87-5697-3165-BE82-54BEF436F4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6668C8-FA8D-9E4B-F7C9-3F5D1A4AA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E4346-4F48-48DF-BB2F-604E5542DE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817427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A7D8A0-AC02-21A2-154D-92D1CE0ED6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C1ED3C4-46AE-58EE-D201-AD1D446C953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6D909C-A8D1-FF23-CCB6-5C923AE458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19C720-E87B-C6E6-CBAF-7C7AC96808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3B54D-6116-4BB3-A6D4-DE4072BACE23}" type="datetimeFigureOut">
              <a:rPr lang="en-IN" smtClean="0"/>
              <a:t>06-11-2025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DEEF06-E7E4-C4FE-12E2-0C1BC048B5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2CC0DEE-BCF8-B634-041B-86403EFD8F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E4346-4F48-48DF-BB2F-604E5542DE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25991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2B9817-CB73-DF54-AC0F-0D4364BEA5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71552BF-4943-D4BF-8D7D-C9FF653B66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8C499B-8166-859A-9898-D23B09A69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3B54D-6116-4BB3-A6D4-DE4072BACE23}" type="datetimeFigureOut">
              <a:rPr lang="en-IN" smtClean="0"/>
              <a:t>06-11-2025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2DA4E0-E6E3-DB27-C7D3-551EBF33BF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3341B4-7A5A-A798-221B-B49821AEB2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E4346-4F48-48DF-BB2F-604E5542DE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779298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E6B1C51-013D-B6F8-CD2B-A4DB1101150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CF3E04-8F5C-C07A-C706-58DB6C4FC5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BC9310-5837-16FF-5980-059A273BF4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3B54D-6116-4BB3-A6D4-DE4072BACE23}" type="datetimeFigureOut">
              <a:rPr lang="en-IN" smtClean="0"/>
              <a:t>06-11-2025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E91C8B-8099-B4FB-3019-71FD62E87A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0D975-E5DC-2C35-1AD5-308CE3B1A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E4346-4F48-48DF-BB2F-604E5542DE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980443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99D32BA-EFB9-9983-6DE3-FD7A9F2554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0DB5FF-D22B-FD82-3B53-048456BB58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43FC32-E16F-CBD9-DF3F-8D07AE37E63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93B54D-6116-4BB3-A6D4-DE4072BACE23}" type="datetimeFigureOut">
              <a:rPr lang="en-IN" smtClean="0"/>
              <a:t>06-11-2025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9D4089-B555-5A85-9E94-37C915B242C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5246CC-4724-D023-138A-070ACAFCA5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5E4346-4F48-48DF-BB2F-604E5542DE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263892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2AF9B332-73AC-F4E8-404F-C2CB6A3272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9E6413F-9430-89A6-8506-53B89AE045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2788" y="3808426"/>
            <a:ext cx="5854928" cy="304957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81547F0-DAD7-D56D-435C-6513D659B20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5773" y="3808428"/>
            <a:ext cx="5854928" cy="304957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8A1BE61-2838-BF8A-E7F9-21CC51A32DB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9197" y="3082564"/>
            <a:ext cx="6419419" cy="377543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FD36736-DA54-8928-3C7F-70D0EAEABE98}"/>
              </a:ext>
            </a:extLst>
          </p:cNvPr>
          <p:cNvSpPr txBox="1"/>
          <p:nvPr/>
        </p:nvSpPr>
        <p:spPr>
          <a:xfrm>
            <a:off x="2744100" y="1750136"/>
            <a:ext cx="71257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spc="600">
                <a:solidFill>
                  <a:srgbClr val="FFA357"/>
                </a:solidFill>
              </a:rPr>
              <a:t>HR ATTRITION DASHBOARD</a:t>
            </a:r>
            <a:endParaRPr lang="en-IN" sz="3600" b="1" spc="600">
              <a:solidFill>
                <a:srgbClr val="FFA357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661429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oup of circles on a white background&#10;&#10;AI-generated content may be incorrect.">
            <a:extLst>
              <a:ext uri="{FF2B5EF4-FFF2-40B4-BE49-F238E27FC236}">
                <a16:creationId xmlns:a16="http://schemas.microsoft.com/office/drawing/2014/main" id="{6E789734-1154-DDE8-E3C9-BBD7645FDB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CEB970E-93F5-B499-EF20-8D43D8F363F8}"/>
              </a:ext>
            </a:extLst>
          </p:cNvPr>
          <p:cNvSpPr/>
          <p:nvPr/>
        </p:nvSpPr>
        <p:spPr>
          <a:xfrm>
            <a:off x="186179" y="186180"/>
            <a:ext cx="11819641" cy="6485640"/>
          </a:xfrm>
          <a:prstGeom prst="roundRect">
            <a:avLst>
              <a:gd name="adj" fmla="val 2888"/>
            </a:avLst>
          </a:prstGeom>
          <a:solidFill>
            <a:schemeClr val="bg1">
              <a:lumMod val="95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4718627-1FBF-589E-3B32-7239B4AD8E17}"/>
              </a:ext>
            </a:extLst>
          </p:cNvPr>
          <p:cNvSpPr/>
          <p:nvPr/>
        </p:nvSpPr>
        <p:spPr>
          <a:xfrm>
            <a:off x="355861" y="1376312"/>
            <a:ext cx="5207524" cy="5099901"/>
          </a:xfrm>
          <a:prstGeom prst="roundRect">
            <a:avLst>
              <a:gd name="adj" fmla="val 3631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679938B-6DBE-FEAB-0443-438B0B8CE956}"/>
              </a:ext>
            </a:extLst>
          </p:cNvPr>
          <p:cNvSpPr/>
          <p:nvPr/>
        </p:nvSpPr>
        <p:spPr>
          <a:xfrm>
            <a:off x="5797484" y="1376312"/>
            <a:ext cx="5974237" cy="2811544"/>
          </a:xfrm>
          <a:prstGeom prst="roundRect">
            <a:avLst>
              <a:gd name="adj" fmla="val 3631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36B018A-579E-D7F0-DBD8-BC6BE266DB69}"/>
              </a:ext>
            </a:extLst>
          </p:cNvPr>
          <p:cNvSpPr/>
          <p:nvPr/>
        </p:nvSpPr>
        <p:spPr>
          <a:xfrm>
            <a:off x="5797484" y="4383464"/>
            <a:ext cx="5974238" cy="2092748"/>
          </a:xfrm>
          <a:prstGeom prst="roundRect">
            <a:avLst>
              <a:gd name="adj" fmla="val 3631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B461E2F-C84B-7A42-02C2-11539220EA3F}"/>
              </a:ext>
            </a:extLst>
          </p:cNvPr>
          <p:cNvSpPr txBox="1"/>
          <p:nvPr/>
        </p:nvSpPr>
        <p:spPr>
          <a:xfrm>
            <a:off x="2948212" y="2704705"/>
            <a:ext cx="251786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IN" sz="1300" spc="3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EDUCATION</a:t>
            </a:r>
            <a:r>
              <a:rPr lang="en-IN" sz="1200" spc="3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 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37B6962-7D10-A7E0-BF5A-540267DB044B}"/>
              </a:ext>
            </a:extLst>
          </p:cNvPr>
          <p:cNvSpPr txBox="1"/>
          <p:nvPr/>
        </p:nvSpPr>
        <p:spPr>
          <a:xfrm>
            <a:off x="5878689" y="4488336"/>
            <a:ext cx="2005471" cy="2959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300" spc="6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JOB ROLE</a:t>
            </a:r>
            <a:endParaRPr lang="en-IN" sz="1300" spc="6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3120206-7B72-A363-D08E-F3D9B9022AE4}"/>
              </a:ext>
            </a:extLst>
          </p:cNvPr>
          <p:cNvSpPr txBox="1"/>
          <p:nvPr/>
        </p:nvSpPr>
        <p:spPr>
          <a:xfrm>
            <a:off x="5878688" y="1504359"/>
            <a:ext cx="245460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300" spc="6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GENDER</a:t>
            </a:r>
            <a:r>
              <a:rPr lang="en-US" sz="1300" spc="3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endParaRPr lang="en-IN" sz="1300" spc="3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2BD8572-31CB-4637-9806-0F810E592CC3}"/>
              </a:ext>
            </a:extLst>
          </p:cNvPr>
          <p:cNvSpPr txBox="1"/>
          <p:nvPr/>
        </p:nvSpPr>
        <p:spPr>
          <a:xfrm>
            <a:off x="8519474" y="1504359"/>
            <a:ext cx="4099246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300" spc="6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BUSINESS TRAVEL</a:t>
            </a:r>
            <a:endParaRPr lang="en-IN" sz="1300" spc="6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38BC54D-0C62-E0E5-70A9-EFB95C213B3A}"/>
              </a:ext>
            </a:extLst>
          </p:cNvPr>
          <p:cNvSpPr txBox="1"/>
          <p:nvPr/>
        </p:nvSpPr>
        <p:spPr>
          <a:xfrm>
            <a:off x="523973" y="2704705"/>
            <a:ext cx="209306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300" spc="6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DEPARTMENT</a:t>
            </a:r>
            <a:endParaRPr lang="en-IN" sz="1300" spc="6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5229546-F9D3-0EA5-3C67-3941058720AD}"/>
              </a:ext>
            </a:extLst>
          </p:cNvPr>
          <p:cNvSpPr txBox="1"/>
          <p:nvPr/>
        </p:nvSpPr>
        <p:spPr>
          <a:xfrm>
            <a:off x="523972" y="3534193"/>
            <a:ext cx="10031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200" spc="3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R&amp;D</a:t>
            </a:r>
            <a:endParaRPr lang="en-IN" sz="1200" spc="3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F1ADF69-2411-B992-26BA-96E829A237A0}"/>
              </a:ext>
            </a:extLst>
          </p:cNvPr>
          <p:cNvSpPr txBox="1"/>
          <p:nvPr/>
        </p:nvSpPr>
        <p:spPr>
          <a:xfrm>
            <a:off x="509943" y="4555566"/>
            <a:ext cx="10031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200" spc="3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Sales</a:t>
            </a:r>
            <a:endParaRPr lang="en-IN" sz="1200" spc="3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2486050-97B7-BF3C-57CC-212213A05F34}"/>
              </a:ext>
            </a:extLst>
          </p:cNvPr>
          <p:cNvSpPr txBox="1"/>
          <p:nvPr/>
        </p:nvSpPr>
        <p:spPr>
          <a:xfrm>
            <a:off x="509943" y="5515889"/>
            <a:ext cx="7067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200" spc="3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HR</a:t>
            </a:r>
            <a:endParaRPr lang="en-IN" sz="1200" spc="3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BDE448E-E135-F2E3-5A36-D81BB6373D3D}"/>
              </a:ext>
            </a:extLst>
          </p:cNvPr>
          <p:cNvSpPr txBox="1"/>
          <p:nvPr/>
        </p:nvSpPr>
        <p:spPr>
          <a:xfrm>
            <a:off x="5878688" y="2228992"/>
            <a:ext cx="76646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200" spc="3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Male</a:t>
            </a:r>
            <a:endParaRPr lang="en-IN" sz="1200" spc="3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264C52D-07B6-A9E3-695B-96082680193A}"/>
              </a:ext>
            </a:extLst>
          </p:cNvPr>
          <p:cNvSpPr txBox="1"/>
          <p:nvPr/>
        </p:nvSpPr>
        <p:spPr>
          <a:xfrm>
            <a:off x="5878688" y="3152001"/>
            <a:ext cx="97459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200" spc="3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Female</a:t>
            </a:r>
            <a:endParaRPr lang="en-IN" sz="1200" spc="3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BDDE7B6-E697-4FB2-75AD-00A3A5886DB3}"/>
              </a:ext>
            </a:extLst>
          </p:cNvPr>
          <p:cNvSpPr txBox="1"/>
          <p:nvPr/>
        </p:nvSpPr>
        <p:spPr>
          <a:xfrm>
            <a:off x="523972" y="635052"/>
            <a:ext cx="549032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2000" spc="6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HR ATTRITION DASHBOARD</a:t>
            </a:r>
            <a:endParaRPr lang="en-IN" sz="2000" spc="6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4CF6933A-560F-DBB2-B068-65D697CBE6A1}"/>
              </a:ext>
            </a:extLst>
          </p:cNvPr>
          <p:cNvCxnSpPr>
            <a:cxnSpLocks/>
          </p:cNvCxnSpPr>
          <p:nvPr/>
        </p:nvCxnSpPr>
        <p:spPr>
          <a:xfrm>
            <a:off x="2803217" y="2965907"/>
            <a:ext cx="0" cy="3044858"/>
          </a:xfrm>
          <a:prstGeom prst="line">
            <a:avLst/>
          </a:prstGeom>
          <a:ln w="19050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5F97CAD3-FE00-B8C7-873A-D86D683FF16D}"/>
              </a:ext>
            </a:extLst>
          </p:cNvPr>
          <p:cNvCxnSpPr>
            <a:cxnSpLocks/>
          </p:cNvCxnSpPr>
          <p:nvPr/>
        </p:nvCxnSpPr>
        <p:spPr>
          <a:xfrm>
            <a:off x="8333295" y="1744262"/>
            <a:ext cx="0" cy="2182000"/>
          </a:xfrm>
          <a:prstGeom prst="line">
            <a:avLst/>
          </a:prstGeom>
          <a:ln w="19050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400339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D7112E-2BB0-0DB3-4035-D0D1060BB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oup of circles on a white background&#10;&#10;AI-generated content may be incorrect.">
            <a:extLst>
              <a:ext uri="{FF2B5EF4-FFF2-40B4-BE49-F238E27FC236}">
                <a16:creationId xmlns:a16="http://schemas.microsoft.com/office/drawing/2014/main" id="{81089813-7FEF-6D49-296E-16F22031BD0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72E0C30-BAA1-45D9-D0B0-CC6EC0F991AD}"/>
              </a:ext>
            </a:extLst>
          </p:cNvPr>
          <p:cNvSpPr/>
          <p:nvPr/>
        </p:nvSpPr>
        <p:spPr>
          <a:xfrm>
            <a:off x="186179" y="186180"/>
            <a:ext cx="11819641" cy="6485640"/>
          </a:xfrm>
          <a:prstGeom prst="roundRect">
            <a:avLst>
              <a:gd name="adj" fmla="val 2888"/>
            </a:avLst>
          </a:prstGeom>
          <a:solidFill>
            <a:schemeClr val="bg1">
              <a:lumMod val="95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4396ABA-1119-7CEE-3B61-2D319DA64323}"/>
              </a:ext>
            </a:extLst>
          </p:cNvPr>
          <p:cNvSpPr/>
          <p:nvPr/>
        </p:nvSpPr>
        <p:spPr>
          <a:xfrm>
            <a:off x="7182077" y="3942103"/>
            <a:ext cx="4611515" cy="2523536"/>
          </a:xfrm>
          <a:prstGeom prst="roundRect">
            <a:avLst>
              <a:gd name="adj" fmla="val 3631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2B5E9D5-BBE5-0D1A-E593-84EEC03CA0AC}"/>
              </a:ext>
            </a:extLst>
          </p:cNvPr>
          <p:cNvSpPr/>
          <p:nvPr/>
        </p:nvSpPr>
        <p:spPr>
          <a:xfrm>
            <a:off x="8150942" y="1232653"/>
            <a:ext cx="3642650" cy="2523270"/>
          </a:xfrm>
          <a:prstGeom prst="roundRect">
            <a:avLst>
              <a:gd name="adj" fmla="val 3631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44D7664-EAE5-DD35-8FE0-D39B9B644AC2}"/>
              </a:ext>
            </a:extLst>
          </p:cNvPr>
          <p:cNvSpPr txBox="1"/>
          <p:nvPr/>
        </p:nvSpPr>
        <p:spPr>
          <a:xfrm>
            <a:off x="7332360" y="4065410"/>
            <a:ext cx="2454606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300" spc="3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WORK-LIFE BALANCE</a:t>
            </a:r>
            <a:endParaRPr lang="en-IN" sz="1300" spc="3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8E11915-2C1F-6861-EADD-794D1E181CF2}"/>
              </a:ext>
            </a:extLst>
          </p:cNvPr>
          <p:cNvSpPr txBox="1"/>
          <p:nvPr/>
        </p:nvSpPr>
        <p:spPr>
          <a:xfrm>
            <a:off x="8221278" y="1316531"/>
            <a:ext cx="342533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300" spc="3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ATTRITION BY OVERTIME</a:t>
            </a:r>
            <a:endParaRPr lang="en-IN" sz="1300" spc="3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DEE3541-4B81-92CF-0905-8E10613FFAE4}"/>
              </a:ext>
            </a:extLst>
          </p:cNvPr>
          <p:cNvSpPr txBox="1"/>
          <p:nvPr/>
        </p:nvSpPr>
        <p:spPr>
          <a:xfrm>
            <a:off x="523972" y="635052"/>
            <a:ext cx="549032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2000" spc="6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HR ATTRITION DASHBOARD</a:t>
            </a:r>
            <a:endParaRPr lang="en-IN" sz="2000" spc="6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D0BC4216-9F48-B95D-4AF8-75439FD04FA6}"/>
              </a:ext>
            </a:extLst>
          </p:cNvPr>
          <p:cNvSpPr/>
          <p:nvPr/>
        </p:nvSpPr>
        <p:spPr>
          <a:xfrm>
            <a:off x="398408" y="1232653"/>
            <a:ext cx="3861200" cy="2523270"/>
          </a:xfrm>
          <a:prstGeom prst="roundRect">
            <a:avLst>
              <a:gd name="adj" fmla="val 3631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997E8E1-F708-E371-2FAB-DB5BB5B6F59B}"/>
              </a:ext>
            </a:extLst>
          </p:cNvPr>
          <p:cNvSpPr/>
          <p:nvPr/>
        </p:nvSpPr>
        <p:spPr>
          <a:xfrm>
            <a:off x="398407" y="3942103"/>
            <a:ext cx="6611521" cy="2534110"/>
          </a:xfrm>
          <a:prstGeom prst="roundRect">
            <a:avLst>
              <a:gd name="adj" fmla="val 3631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209D705-06C5-2819-1B0B-F7AC9EF39D0F}"/>
              </a:ext>
            </a:extLst>
          </p:cNvPr>
          <p:cNvSpPr/>
          <p:nvPr/>
        </p:nvSpPr>
        <p:spPr>
          <a:xfrm>
            <a:off x="4417298" y="1232653"/>
            <a:ext cx="3586663" cy="2523270"/>
          </a:xfrm>
          <a:prstGeom prst="roundRect">
            <a:avLst>
              <a:gd name="adj" fmla="val 3631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C2EFDAD-0151-59EC-4170-5D279C2CDD43}"/>
              </a:ext>
            </a:extLst>
          </p:cNvPr>
          <p:cNvSpPr txBox="1"/>
          <p:nvPr/>
        </p:nvSpPr>
        <p:spPr>
          <a:xfrm>
            <a:off x="415891" y="1326859"/>
            <a:ext cx="378674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300" spc="3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ATTRITION VS MONTHLY INCOME</a:t>
            </a:r>
            <a:endParaRPr lang="en-IN" sz="1300" spc="3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A8A5B97-AD7F-7DE5-647E-04D47AF115AF}"/>
              </a:ext>
            </a:extLst>
          </p:cNvPr>
          <p:cNvSpPr txBox="1"/>
          <p:nvPr/>
        </p:nvSpPr>
        <p:spPr>
          <a:xfrm>
            <a:off x="4471837" y="1306203"/>
            <a:ext cx="211104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IN" sz="1300" spc="3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TOP 5 JOB ROLES</a:t>
            </a:r>
            <a:endParaRPr lang="en-IN" sz="1200" spc="3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C445E49-DC60-A420-61E8-E212813E4BF3}"/>
              </a:ext>
            </a:extLst>
          </p:cNvPr>
          <p:cNvSpPr txBox="1"/>
          <p:nvPr/>
        </p:nvSpPr>
        <p:spPr>
          <a:xfrm>
            <a:off x="523972" y="4065410"/>
            <a:ext cx="260688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300" spc="3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ATTRITION TREND</a:t>
            </a:r>
            <a:endParaRPr lang="en-IN" sz="1300" spc="3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23620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9896D7-D5A3-44DB-2C40-EB6B2D805B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oup of circles on a white background&#10;&#10;AI-generated content may be incorrect.">
            <a:extLst>
              <a:ext uri="{FF2B5EF4-FFF2-40B4-BE49-F238E27FC236}">
                <a16:creationId xmlns:a16="http://schemas.microsoft.com/office/drawing/2014/main" id="{1C88FECC-EF2A-FF36-F4CC-C2EFDF28DC4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F06CE17-4FA9-D1B2-5586-FBDA506A80E4}"/>
              </a:ext>
            </a:extLst>
          </p:cNvPr>
          <p:cNvSpPr/>
          <p:nvPr/>
        </p:nvSpPr>
        <p:spPr>
          <a:xfrm>
            <a:off x="186179" y="186180"/>
            <a:ext cx="11819641" cy="6485640"/>
          </a:xfrm>
          <a:prstGeom prst="roundRect">
            <a:avLst>
              <a:gd name="adj" fmla="val 2888"/>
            </a:avLst>
          </a:prstGeom>
          <a:solidFill>
            <a:schemeClr val="bg1">
              <a:lumMod val="95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9E215E0-69DF-9F51-598B-5F67B66759E2}"/>
              </a:ext>
            </a:extLst>
          </p:cNvPr>
          <p:cNvSpPr/>
          <p:nvPr/>
        </p:nvSpPr>
        <p:spPr>
          <a:xfrm>
            <a:off x="6360737" y="3942103"/>
            <a:ext cx="5432856" cy="2523536"/>
          </a:xfrm>
          <a:prstGeom prst="roundRect">
            <a:avLst>
              <a:gd name="adj" fmla="val 3631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B0A66EE-F9B1-B9AA-B3CE-DC3F78EDA536}"/>
              </a:ext>
            </a:extLst>
          </p:cNvPr>
          <p:cNvSpPr/>
          <p:nvPr/>
        </p:nvSpPr>
        <p:spPr>
          <a:xfrm>
            <a:off x="8150942" y="1232653"/>
            <a:ext cx="3642650" cy="2523270"/>
          </a:xfrm>
          <a:prstGeom prst="roundRect">
            <a:avLst>
              <a:gd name="adj" fmla="val 3631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045D64A-921A-2590-12DD-B1D8707D50C4}"/>
              </a:ext>
            </a:extLst>
          </p:cNvPr>
          <p:cNvSpPr txBox="1"/>
          <p:nvPr/>
        </p:nvSpPr>
        <p:spPr>
          <a:xfrm>
            <a:off x="6396214" y="4065410"/>
            <a:ext cx="48193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300" spc="3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TRAINING FREQUENCY VS RATING</a:t>
            </a:r>
            <a:endParaRPr lang="en-IN" sz="1300" spc="3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7B749DD-F651-2FD6-1485-80859C561C85}"/>
              </a:ext>
            </a:extLst>
          </p:cNvPr>
          <p:cNvSpPr txBox="1"/>
          <p:nvPr/>
        </p:nvSpPr>
        <p:spPr>
          <a:xfrm>
            <a:off x="8221278" y="1316531"/>
            <a:ext cx="342533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300" spc="3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JOB LEVEL VS PERFORMANCE</a:t>
            </a:r>
            <a:endParaRPr lang="en-IN" sz="1300" spc="3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26F3095-8560-3835-48E0-C2112C25EE3C}"/>
              </a:ext>
            </a:extLst>
          </p:cNvPr>
          <p:cNvSpPr txBox="1"/>
          <p:nvPr/>
        </p:nvSpPr>
        <p:spPr>
          <a:xfrm>
            <a:off x="523972" y="635052"/>
            <a:ext cx="549032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2000" spc="6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HR ATTRITION DASHBOARD</a:t>
            </a:r>
            <a:endParaRPr lang="en-IN" sz="2000" spc="6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217DC273-A167-513D-BC67-5BF07E818C33}"/>
              </a:ext>
            </a:extLst>
          </p:cNvPr>
          <p:cNvSpPr/>
          <p:nvPr/>
        </p:nvSpPr>
        <p:spPr>
          <a:xfrm>
            <a:off x="398408" y="1232653"/>
            <a:ext cx="3586663" cy="2523270"/>
          </a:xfrm>
          <a:prstGeom prst="roundRect">
            <a:avLst>
              <a:gd name="adj" fmla="val 3631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EBA6A322-A311-C6D8-7AEA-B1C0051ADD0C}"/>
              </a:ext>
            </a:extLst>
          </p:cNvPr>
          <p:cNvSpPr/>
          <p:nvPr/>
        </p:nvSpPr>
        <p:spPr>
          <a:xfrm>
            <a:off x="398408" y="3942103"/>
            <a:ext cx="5776150" cy="2534110"/>
          </a:xfrm>
          <a:prstGeom prst="roundRect">
            <a:avLst>
              <a:gd name="adj" fmla="val 3631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E11AEB7-6815-FE57-F48B-60C04C9B40D8}"/>
              </a:ext>
            </a:extLst>
          </p:cNvPr>
          <p:cNvSpPr/>
          <p:nvPr/>
        </p:nvSpPr>
        <p:spPr>
          <a:xfrm>
            <a:off x="4171250" y="1232653"/>
            <a:ext cx="3832711" cy="2523270"/>
          </a:xfrm>
          <a:prstGeom prst="roundRect">
            <a:avLst>
              <a:gd name="adj" fmla="val 3631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CC8E9A4-EA87-9776-E9D4-51979B20ACD2}"/>
              </a:ext>
            </a:extLst>
          </p:cNvPr>
          <p:cNvSpPr txBox="1"/>
          <p:nvPr/>
        </p:nvSpPr>
        <p:spPr>
          <a:xfrm>
            <a:off x="415891" y="1326859"/>
            <a:ext cx="3194576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300" spc="3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RATING BY DEPARTMENT</a:t>
            </a:r>
            <a:endParaRPr lang="en-IN" sz="1300" spc="3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D743B4D-369E-81B0-55E8-9D869CBE6E88}"/>
              </a:ext>
            </a:extLst>
          </p:cNvPr>
          <p:cNvSpPr txBox="1"/>
          <p:nvPr/>
        </p:nvSpPr>
        <p:spPr>
          <a:xfrm>
            <a:off x="4197300" y="1315112"/>
            <a:ext cx="3399544" cy="3027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IN" sz="1300" spc="3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JOB LEVEL VS PERFORMANCE</a:t>
            </a:r>
            <a:endParaRPr lang="en-IN" sz="1200" spc="3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D424AC3-5858-AE76-9B1E-2CF4DA4B42E2}"/>
              </a:ext>
            </a:extLst>
          </p:cNvPr>
          <p:cNvSpPr txBox="1"/>
          <p:nvPr/>
        </p:nvSpPr>
        <p:spPr>
          <a:xfrm>
            <a:off x="523972" y="4065410"/>
            <a:ext cx="451936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300" spc="3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PERFORMANCE RATING TREND BY YEAR</a:t>
            </a:r>
            <a:endParaRPr lang="en-IN" sz="1300" spc="3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909634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77</TotalTime>
  <Words>64</Words>
  <Application>Microsoft Office PowerPoint</Application>
  <PresentationFormat>Widescreen</PresentationFormat>
  <Paragraphs>27</Paragraphs>
  <Slides>4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Calibri Light</vt:lpstr>
      <vt:lpstr>Tahoma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Sanket Kshirsagar</dc:creator>
  <cp:lastModifiedBy>Sanket Kshirsagar</cp:lastModifiedBy>
  <cp:revision>8</cp:revision>
  <dcterms:created xsi:type="dcterms:W3CDTF">2025-10-29T06:21:17Z</dcterms:created>
  <dcterms:modified xsi:type="dcterms:W3CDTF">2025-11-06T05:56:15Z</dcterms:modified>
</cp:coreProperties>
</file>